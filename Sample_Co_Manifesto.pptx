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914400"/>
            <a:ext cx="9445752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914400"/>
            <a:ext cx="9445752" cy="109728"/>
          </a:xfrm>
          <a:prstGeom prst="rect">
            <a:avLst/>
          </a:prstGeom>
          <a:solidFill>
            <a:srgbClr val="4E627D"/>
          </a:solidFill>
          <a:ln>
            <a:solidFill>
              <a:srgbClr val="4E6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645920"/>
            <a:ext cx="1828800" cy="14209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3291840"/>
            <a:ext cx="8531352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2C3A4D"/>
                </a:solidFill>
                <a:latin typeface="Georgia"/>
              </a:defRPr>
            </a:pPr>
            <a:r>
              <a:t>THE SAMPLE CO. MANIFESTO</a:t>
            </a:r>
          </a:p>
          <a:p>
            <a:pPr algn="ctr">
              <a:spcAft>
                <a:spcPts val="2000"/>
              </a:spcAft>
              <a:defRPr sz="2000" i="1">
                <a:solidFill>
                  <a:srgbClr val="4E627D"/>
                </a:solidFill>
                <a:latin typeface="Georgia"/>
              </a:defRPr>
            </a:pPr>
            <a:r>
              <a:t>A Declaration of Unremarkable Intent</a:t>
            </a:r>
          </a:p>
          <a:p>
            <a:pPr algn="ctr">
              <a:defRPr sz="1100">
                <a:solidFill>
                  <a:srgbClr val="6C7A89"/>
                </a:solidFill>
                <a:latin typeface="Arial"/>
              </a:defRPr>
            </a:pPr>
            <a:r>
              <a:t>Sample Co. Example Solutions  |  EST.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457200"/>
            <a:ext cx="1051560" cy="8170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63093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A89"/>
                </a:solidFill>
                <a:latin typeface="Arial"/>
              </a:defRPr>
            </a:pPr>
            <a:r>
              <a:t>Sample Co. Example Solutions  |  The Manifesto  |  Slide 2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36576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E627D"/>
                </a:solidFill>
                <a:latin typeface="Arial"/>
              </a:defRPr>
            </a:pPr>
            <a:r>
              <a:t>SECTION I</a:t>
            </a:r>
          </a:p>
          <a:p>
            <a:pPr>
              <a:defRPr sz="2600" b="1">
                <a:solidFill>
                  <a:srgbClr val="2C3A4D"/>
                </a:solidFill>
                <a:latin typeface="Georgia"/>
              </a:defRPr>
            </a:pPr>
            <a:r>
              <a:t>The Sanctity of the Placeholder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1371600"/>
            <a:ext cx="512064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1371600"/>
            <a:ext cx="109728" cy="4663440"/>
          </a:xfrm>
          <a:prstGeom prst="rect">
            <a:avLst/>
          </a:prstGeom>
          <a:solidFill>
            <a:srgbClr val="4E627D"/>
          </a:solidFill>
          <a:ln>
            <a:solidFill>
              <a:srgbClr val="4E6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4592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4E627D"/>
                </a:solidFill>
                <a:latin typeface="Arial"/>
              </a:defRPr>
            </a:pPr>
            <a:r>
              <a:t>AN UNTAINTED REALITY</a:t>
            </a:r>
          </a:p>
          <a:p>
            <a:pPr>
              <a:spcAft>
                <a:spcPts val="1400"/>
              </a:spcAft>
              <a:defRPr sz="1800" b="1" i="1">
                <a:solidFill>
                  <a:srgbClr val="2C3A4D"/>
                </a:solidFill>
                <a:latin typeface="Georgia"/>
              </a:defRPr>
            </a:pPr>
            <a:r>
              <a:t>“"Your Text Here" is the most honest sentence ever written in the English language.”</a:t>
            </a:r>
          </a:p>
          <a:p>
            <a:pPr>
              <a:lnSpc>
                <a:spcPct val="115000"/>
              </a:lnSpc>
              <a:defRPr sz="1000">
                <a:solidFill>
                  <a:srgbClr val="212529"/>
                </a:solidFill>
                <a:latin typeface="Arial"/>
              </a:defRPr>
            </a:pPr>
            <a:r>
              <a:t>We recognize the placeholder not as an empty vessel, but as a state of pure, unburdened potential. When you look at an "Example Solution," you are looking at perfection before the messy, complicated, and entirely subjective nature of reality ruins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73368" y="1371600"/>
            <a:ext cx="512064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73368" y="1371600"/>
            <a:ext cx="5120640" cy="109728"/>
          </a:xfrm>
          <a:prstGeom prst="rect">
            <a:avLst/>
          </a:prstGeom>
          <a:solidFill>
            <a:srgbClr val="4E627D"/>
          </a:solidFill>
          <a:ln>
            <a:solidFill>
              <a:srgbClr val="4E6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8" y="164592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4E627D"/>
                </a:solidFill>
                <a:latin typeface="Arial"/>
              </a:defRPr>
            </a:pPr>
            <a:r>
              <a:t>PILLARS OF THE PLACEHOLDER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2C3A4D"/>
                </a:solidFill>
                <a:latin typeface="Arial"/>
              </a:defRPr>
            </a:pPr>
            <a:r>
              <a:t>•  The Blank Slate</a:t>
            </a:r>
          </a:p>
          <a:p>
            <a:pPr>
              <a:lnSpc>
                <a:spcPct val="110000"/>
              </a:lnSpc>
              <a:defRPr sz="950">
                <a:solidFill>
                  <a:srgbClr val="212529"/>
                </a:solidFill>
                <a:latin typeface="Arial"/>
              </a:defRPr>
            </a:pPr>
            <a:r>
              <a:t>We believe in the beauty of the blank slate that never gets filled, representing pure conceptual harmony.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100" b="1">
                <a:solidFill>
                  <a:srgbClr val="2C3A4D"/>
                </a:solidFill>
                <a:latin typeface="Arial"/>
              </a:defRPr>
            </a:pPr>
            <a:r>
              <a:t>•  The Empty Spreadsheet</a:t>
            </a:r>
          </a:p>
          <a:p>
            <a:pPr>
              <a:lnSpc>
                <a:spcPct val="110000"/>
              </a:lnSpc>
              <a:defRPr sz="950">
                <a:solidFill>
                  <a:srgbClr val="212529"/>
                </a:solidFill>
                <a:latin typeface="Arial"/>
              </a:defRPr>
            </a:pPr>
            <a:r>
              <a:t>An empty spreadsheet is a pristine work of art, completely untainted by the cruel unpredictability of actual data.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100" b="1">
                <a:solidFill>
                  <a:srgbClr val="2C3A4D"/>
                </a:solidFill>
                <a:latin typeface="Arial"/>
              </a:defRPr>
            </a:pPr>
            <a:r>
              <a:t>•  Occupying Space</a:t>
            </a:r>
          </a:p>
          <a:p>
            <a:pPr>
              <a:lnSpc>
                <a:spcPct val="110000"/>
              </a:lnSpc>
              <a:defRPr sz="950">
                <a:solidFill>
                  <a:srgbClr val="212529"/>
                </a:solidFill>
                <a:latin typeface="Arial"/>
              </a:defRPr>
            </a:pPr>
            <a:r>
              <a:t>We do not demand attention; we exist purely to occupy a required dimension and provide a calm, reassuring corporate presence.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457200"/>
            <a:ext cx="1051560" cy="8170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63093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A89"/>
                </a:solidFill>
                <a:latin typeface="Arial"/>
              </a:defRPr>
            </a:pPr>
            <a:r>
              <a:t>Sample Co. Example Solutions  |  The Manifesto  |  Slide 3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36576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E627D"/>
                </a:solidFill>
                <a:latin typeface="Arial"/>
              </a:defRPr>
            </a:pPr>
            <a:r>
              <a:t>SECTION II</a:t>
            </a:r>
          </a:p>
          <a:p>
            <a:pPr>
              <a:defRPr sz="2600" b="1">
                <a:solidFill>
                  <a:srgbClr val="2C3A4D"/>
                </a:solidFill>
                <a:latin typeface="Georgia"/>
              </a:defRPr>
            </a:pPr>
            <a:r>
              <a:t>The Pillars of Example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1371600"/>
            <a:ext cx="329184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1371600"/>
            <a:ext cx="3291840" cy="109728"/>
          </a:xfrm>
          <a:prstGeom prst="rect">
            <a:avLst/>
          </a:prstGeom>
          <a:solidFill>
            <a:srgbClr val="4E627D"/>
          </a:solidFill>
          <a:ln>
            <a:solidFill>
              <a:srgbClr val="4E6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45920"/>
            <a:ext cx="28346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E627D"/>
                </a:solidFill>
                <a:latin typeface="Arial"/>
              </a:defRPr>
            </a:pPr>
            <a:r>
              <a:t>THE COMFORT OF THE BELL CURVE</a:t>
            </a:r>
          </a:p>
          <a:p>
            <a:pPr>
              <a:spcAft>
                <a:spcPts val="800"/>
              </a:spcAft>
              <a:defRPr sz="1300" b="1">
                <a:solidFill>
                  <a:srgbClr val="2C3A4D"/>
                </a:solidFill>
                <a:latin typeface="Georgia"/>
              </a:defRPr>
            </a:pPr>
            <a:r>
              <a:t>The 50th Percentile</a:t>
            </a:r>
          </a:p>
          <a:p>
            <a:pPr>
              <a:lnSpc>
                <a:spcPct val="110000"/>
              </a:lnSpc>
              <a:spcBef>
                <a:spcPts val="0"/>
              </a:spcBef>
              <a:defRPr sz="919" b="1">
                <a:solidFill>
                  <a:srgbClr val="2C3A4D"/>
                </a:solidFill>
                <a:latin typeface="Arial"/>
              </a:defRPr>
            </a:pPr>
            <a:r>
              <a:t>•  Avoid the Edges: </a:t>
            </a:r>
            <a:r>
              <a:rPr sz="900" b="0">
                <a:solidFill>
                  <a:srgbClr val="212529"/>
                </a:solidFill>
                <a:latin typeface="Arial"/>
              </a:rPr>
              <a:t>Operating at the dangerous, unstable edges of the curve demands endless optimization and fear of obsolescence.</a:t>
            </a:r>
          </a:p>
          <a:p>
            <a:pPr>
              <a:lnSpc>
                <a:spcPct val="110000"/>
              </a:lnSpc>
              <a:spcBef>
                <a:spcPts val="300"/>
              </a:spcBef>
              <a:defRPr sz="919" b="1">
                <a:solidFill>
                  <a:srgbClr val="2C3A4D"/>
                </a:solidFill>
                <a:latin typeface="Arial"/>
              </a:defRPr>
            </a:pPr>
            <a:r>
              <a:t>•  The Safe Middle: </a:t>
            </a:r>
            <a:r>
              <a:rPr sz="900" b="0">
                <a:solidFill>
                  <a:srgbClr val="212529"/>
                </a:solidFill>
                <a:latin typeface="Arial"/>
              </a:rPr>
              <a:t>We aim squarely for the absolute average—the mean, the median, and the mode. There is incredible safety in the middle.</a:t>
            </a:r>
          </a:p>
          <a:p>
            <a:pPr>
              <a:lnSpc>
                <a:spcPct val="110000"/>
              </a:lnSpc>
              <a:spcBef>
                <a:spcPts val="300"/>
              </a:spcBef>
              <a:defRPr sz="919" b="1">
                <a:solidFill>
                  <a:srgbClr val="2C3A4D"/>
                </a:solidFill>
                <a:latin typeface="Arial"/>
              </a:defRPr>
            </a:pPr>
            <a:r>
              <a:t>•  Zero Surprise: </a:t>
            </a:r>
            <a:r>
              <a:rPr sz="900" b="0">
                <a:solidFill>
                  <a:srgbClr val="212529"/>
                </a:solidFill>
                <a:latin typeface="Arial"/>
              </a:rPr>
              <a:t>By striving for the average, we guarantee no one will ever be surprised, startled, or offended by what we produce.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371600"/>
            <a:ext cx="329184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53128" y="1371600"/>
            <a:ext cx="3291840" cy="109728"/>
          </a:xfrm>
          <a:prstGeom prst="rect">
            <a:avLst/>
          </a:prstGeom>
          <a:solidFill>
            <a:srgbClr val="4E627D"/>
          </a:solidFill>
          <a:ln>
            <a:solidFill>
              <a:srgbClr val="4E6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645920"/>
            <a:ext cx="28346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E627D"/>
                </a:solidFill>
                <a:latin typeface="Arial"/>
              </a:defRPr>
            </a:pPr>
            <a:r>
              <a:t>THE ELEGANCE OF THE BOILERPLATE</a:t>
            </a:r>
          </a:p>
          <a:p>
            <a:pPr>
              <a:spcAft>
                <a:spcPts val="800"/>
              </a:spcAft>
              <a:defRPr sz="1300" b="1">
                <a:solidFill>
                  <a:srgbClr val="2C3A4D"/>
                </a:solidFill>
                <a:latin typeface="Georgia"/>
              </a:defRPr>
            </a:pPr>
            <a:r>
              <a:t>The Template Imperative</a:t>
            </a:r>
          </a:p>
          <a:p>
            <a:pPr>
              <a:lnSpc>
                <a:spcPct val="110000"/>
              </a:lnSpc>
              <a:spcBef>
                <a:spcPts val="0"/>
              </a:spcBef>
              <a:defRPr sz="919" b="1">
                <a:solidFill>
                  <a:srgbClr val="2C3A4D"/>
                </a:solidFill>
                <a:latin typeface="Arial"/>
              </a:defRPr>
            </a:pPr>
            <a:r>
              <a:t>•  Bespoke is Waste: </a:t>
            </a:r>
            <a:r>
              <a:rPr sz="900" b="0">
                <a:solidFill>
                  <a:srgbClr val="212529"/>
                </a:solidFill>
                <a:latin typeface="Arial"/>
              </a:rPr>
              <a:t>Custom engineering requires thought, time, and effort that is fundamentally a waste of human energy.</a:t>
            </a:r>
          </a:p>
          <a:p>
            <a:pPr>
              <a:lnSpc>
                <a:spcPct val="110000"/>
              </a:lnSpc>
              <a:spcBef>
                <a:spcPts val="300"/>
              </a:spcBef>
              <a:defRPr sz="919" b="1">
                <a:solidFill>
                  <a:srgbClr val="2C3A4D"/>
                </a:solidFill>
                <a:latin typeface="Arial"/>
              </a:defRPr>
            </a:pPr>
            <a:r>
              <a:t>•  Boilerplate Defense: </a:t>
            </a:r>
            <a:r>
              <a:rPr sz="900" b="0">
                <a:solidFill>
                  <a:srgbClr val="212529"/>
                </a:solidFill>
                <a:latin typeface="Arial"/>
              </a:rPr>
              <a:t>Standard terms and conditions have safely protected absolutely nothing of importance for decades. Why change?</a:t>
            </a:r>
          </a:p>
          <a:p>
            <a:pPr>
              <a:lnSpc>
                <a:spcPct val="110000"/>
              </a:lnSpc>
              <a:spcBef>
                <a:spcPts val="300"/>
              </a:spcBef>
              <a:defRPr sz="919" b="1">
                <a:solidFill>
                  <a:srgbClr val="2C3A4D"/>
                </a:solidFill>
                <a:latin typeface="Arial"/>
              </a:defRPr>
            </a:pPr>
            <a:r>
              <a:t>•  Template Mandate: </a:t>
            </a:r>
            <a:r>
              <a:rPr sz="900" b="0">
                <a:solidFill>
                  <a:srgbClr val="212529"/>
                </a:solidFill>
                <a:latin typeface="Arial"/>
              </a:rPr>
              <a:t>If a template exists, it is a moral imperative to use it exactly as provided without altering fonts or stock photos.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02168" y="1371600"/>
            <a:ext cx="329184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02168" y="1371600"/>
            <a:ext cx="3291840" cy="109728"/>
          </a:xfrm>
          <a:prstGeom prst="rect">
            <a:avLst/>
          </a:prstGeom>
          <a:solidFill>
            <a:srgbClr val="4E627D"/>
          </a:solidFill>
          <a:ln>
            <a:solidFill>
              <a:srgbClr val="4E6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645920"/>
            <a:ext cx="28346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E627D"/>
                </a:solidFill>
                <a:latin typeface="Arial"/>
              </a:defRPr>
            </a:pPr>
            <a:r>
              <a:t>PREDICTABILITY AS A VIRTUE</a:t>
            </a:r>
          </a:p>
          <a:p>
            <a:pPr>
              <a:spcAft>
                <a:spcPts val="800"/>
              </a:spcAft>
              <a:defRPr sz="1300" b="1">
                <a:solidFill>
                  <a:srgbClr val="2C3A4D"/>
                </a:solidFill>
                <a:latin typeface="Georgia"/>
              </a:defRPr>
            </a:pPr>
            <a:r>
              <a:t>Structure Without Function</a:t>
            </a:r>
          </a:p>
          <a:p>
            <a:pPr>
              <a:lnSpc>
                <a:spcPct val="110000"/>
              </a:lnSpc>
              <a:spcBef>
                <a:spcPts val="0"/>
              </a:spcBef>
              <a:defRPr sz="919" b="1">
                <a:solidFill>
                  <a:srgbClr val="2C3A4D"/>
                </a:solidFill>
                <a:latin typeface="Arial"/>
              </a:defRPr>
            </a:pPr>
            <a:r>
              <a:t>•  No Gimmicks: </a:t>
            </a:r>
            <a:r>
              <a:rPr sz="900" b="0">
                <a:solidFill>
                  <a:srgbClr val="212529"/>
                </a:solidFill>
                <a:latin typeface="Arial"/>
              </a:rPr>
              <a:t>Delighting the customer is a trap designed to force companies into a never-ending cycle of escalating gimmicks.</a:t>
            </a:r>
          </a:p>
          <a:p>
            <a:pPr>
              <a:lnSpc>
                <a:spcPct val="110000"/>
              </a:lnSpc>
              <a:spcBef>
                <a:spcPts val="300"/>
              </a:spcBef>
              <a:defRPr sz="919" b="1">
                <a:solidFill>
                  <a:srgbClr val="2C3A4D"/>
                </a:solidFill>
                <a:latin typeface="Arial"/>
              </a:defRPr>
            </a:pPr>
            <a:r>
              <a:t>•  Pure Structure: </a:t>
            </a:r>
            <a:r>
              <a:rPr sz="900" b="0">
                <a:solidFill>
                  <a:srgbClr val="212529"/>
                </a:solidFill>
                <a:latin typeface="Arial"/>
              </a:rPr>
              <a:t>What you see is mathematically precisely what you get. We provide the elegant structure of a product without its function.</a:t>
            </a:r>
          </a:p>
          <a:p>
            <a:pPr>
              <a:lnSpc>
                <a:spcPct val="110000"/>
              </a:lnSpc>
              <a:spcBef>
                <a:spcPts val="300"/>
              </a:spcBef>
              <a:defRPr sz="919" b="1">
                <a:solidFill>
                  <a:srgbClr val="2C3A4D"/>
                </a:solidFill>
                <a:latin typeface="Arial"/>
              </a:defRPr>
            </a:pPr>
            <a:r>
              <a:t>•  Lowered Hope: </a:t>
            </a:r>
            <a:r>
              <a:rPr sz="900" b="0">
                <a:solidFill>
                  <a:srgbClr val="212529"/>
                </a:solidFill>
                <a:latin typeface="Arial"/>
              </a:rPr>
              <a:t>You will never be disappointed because we will never give you a reason to hope for more. Predictability is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457200"/>
            <a:ext cx="1051560" cy="8170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63093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A89"/>
                </a:solidFill>
                <a:latin typeface="Arial"/>
              </a:defRPr>
            </a:pPr>
            <a:r>
              <a:t>Sample Co. Example Solutions  |  The Manifesto  |  Slide 4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36576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E627D"/>
                </a:solidFill>
                <a:latin typeface="Arial"/>
              </a:defRPr>
            </a:pPr>
            <a:r>
              <a:t>SECTION III</a:t>
            </a:r>
          </a:p>
          <a:p>
            <a:pPr>
              <a:defRPr sz="2600" b="1">
                <a:solidFill>
                  <a:srgbClr val="2C3A4D"/>
                </a:solidFill>
                <a:latin typeface="Georgia"/>
              </a:defRPr>
            </a:pPr>
            <a:r>
              <a:t>Standing Firm Against "Disruption"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1371600"/>
            <a:ext cx="512064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1371600"/>
            <a:ext cx="5120640" cy="109728"/>
          </a:xfrm>
          <a:prstGeom prst="rect">
            <a:avLst/>
          </a:prstGeom>
          <a:solidFill>
            <a:srgbClr val="4E627D"/>
          </a:solidFill>
          <a:ln>
            <a:solidFill>
              <a:srgbClr val="4E6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645920"/>
            <a:ext cx="457200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B45050"/>
                </a:solidFill>
                <a:latin typeface="Arial"/>
              </a:defRPr>
            </a:pPr>
            <a:r>
              <a:t>THE DISRUPTIVE WAY (HOSTILE &amp; AGGRESSIVE)</a:t>
            </a:r>
          </a:p>
          <a:p>
            <a:pPr>
              <a:lnSpc>
                <a:spcPct val="110000"/>
              </a:lnSpc>
              <a:defRPr sz="950">
                <a:solidFill>
                  <a:srgbClr val="212529"/>
                </a:solidFill>
                <a:latin typeface="Arial"/>
              </a:defRPr>
            </a:pPr>
            <a:r>
              <a:t>•  A Toddler's Philosophy: Conglomerates want to 'move fast and break things.' When things break, someone else has to clean them up.</a:t>
            </a:r>
            <a:br/>
            <a:r>
              <a:t>•  The Cost of Speed: Moving fast leads to sweat, exhaustion, and inevitable errors. It sacrifices peace for frantic movement.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73368" y="1371600"/>
            <a:ext cx="512064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73368" y="1371600"/>
            <a:ext cx="5120640" cy="109728"/>
          </a:xfrm>
          <a:prstGeom prst="rect">
            <a:avLst/>
          </a:prstGeom>
          <a:solidFill>
            <a:srgbClr val="4E627D"/>
          </a:solidFill>
          <a:ln>
            <a:solidFill>
              <a:srgbClr val="4E6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7688" y="1645920"/>
            <a:ext cx="457200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E627D"/>
                </a:solidFill>
                <a:latin typeface="Arial"/>
              </a:defRPr>
            </a:pPr>
            <a:r>
              <a:t>THE SAMPLE CO. WAY (CALM &amp; COMPLIANT)</a:t>
            </a:r>
          </a:p>
          <a:p>
            <a:pPr>
              <a:lnSpc>
                <a:spcPct val="110000"/>
              </a:lnSpc>
              <a:defRPr sz="950">
                <a:solidFill>
                  <a:srgbClr val="212529"/>
                </a:solidFill>
                <a:latin typeface="Arial"/>
              </a:defRPr>
            </a:pPr>
            <a:r>
              <a:t>•  Moderate Pace: We move at a moderate, legally compliant pace to maintain the status quo.</a:t>
            </a:r>
            <a:br/>
            <a:r>
              <a:t>•  Anti-Disruption: We view disruption as a hostile act against the comforting, therapeutic rhythm of standard operating procedures. We never reinvent the wheel.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4023360"/>
            <a:ext cx="1078992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4023360"/>
            <a:ext cx="109728" cy="2011680"/>
          </a:xfrm>
          <a:prstGeom prst="rect">
            <a:avLst/>
          </a:prstGeom>
          <a:solidFill>
            <a:srgbClr val="4E627D"/>
          </a:solidFill>
          <a:ln>
            <a:solidFill>
              <a:srgbClr val="4E6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429768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4E627D"/>
                </a:solidFill>
                <a:latin typeface="Arial"/>
              </a:defRPr>
            </a:pPr>
            <a:r>
              <a:t>FEATURED ENGINEERING CASE STUDY</a:t>
            </a:r>
          </a:p>
          <a:p>
            <a:pPr>
              <a:spcAft>
                <a:spcPts val="600"/>
              </a:spcAft>
              <a:defRPr sz="1400" b="1">
                <a:solidFill>
                  <a:srgbClr val="2C3A4D"/>
                </a:solidFill>
                <a:latin typeface="Georgia"/>
              </a:defRPr>
            </a:pPr>
            <a:r>
              <a:t>The 'Sample Wheel' (Model A)</a:t>
            </a:r>
          </a:p>
          <a:p>
            <a:pPr>
              <a:lnSpc>
                <a:spcPct val="110000"/>
              </a:lnSpc>
              <a:defRPr sz="950">
                <a:solidFill>
                  <a:srgbClr val="212529"/>
                </a:solidFill>
                <a:latin typeface="Arial"/>
              </a:defRPr>
            </a:pPr>
            <a:r>
              <a:t>•  No Need to Reinvent: We think the current wheel is perfectly fine (perhaps even a bit too flashy in its roundness).</a:t>
            </a:r>
            <a:br/>
            <a:r>
              <a:t>•  Sufficient Performance: Model A is available only in gray, functioning at roughly 80% capacity—which is statistically all you really need to get down a slight, predictable incline.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457200"/>
            <a:ext cx="1051560" cy="8170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63093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A89"/>
                </a:solidFill>
                <a:latin typeface="Arial"/>
              </a:defRPr>
            </a:pPr>
            <a:r>
              <a:t>Sample Co. Example Solutions  |  The Manifesto  |  Slide 5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36576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E627D"/>
                </a:solidFill>
                <a:latin typeface="Arial"/>
              </a:defRPr>
            </a:pPr>
            <a:r>
              <a:t>SECTION IV</a:t>
            </a:r>
          </a:p>
          <a:p>
            <a:pPr>
              <a:defRPr sz="2600" b="1">
                <a:solidFill>
                  <a:srgbClr val="2C3A4D"/>
                </a:solidFill>
                <a:latin typeface="Georgia"/>
              </a:defRPr>
            </a:pPr>
            <a:r>
              <a:t>A Vision for a Generic Future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1371600"/>
            <a:ext cx="51206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1371600"/>
            <a:ext cx="5120640" cy="109728"/>
          </a:xfrm>
          <a:prstGeom prst="rect">
            <a:avLst/>
          </a:prstGeom>
          <a:solidFill>
            <a:srgbClr val="4E627D"/>
          </a:solidFill>
          <a:ln>
            <a:solidFill>
              <a:srgbClr val="4E6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645920"/>
            <a:ext cx="45720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C3A4D"/>
                </a:solidFill>
                <a:latin typeface="Georgia"/>
              </a:defRPr>
            </a:pPr>
            <a:r>
              <a:t>01.  Eradicate Decision Fatigue</a:t>
            </a:r>
          </a:p>
          <a:p>
            <a:pPr>
              <a:lnSpc>
                <a:spcPct val="110000"/>
              </a:lnSpc>
              <a:defRPr sz="919">
                <a:solidFill>
                  <a:srgbClr val="212529"/>
                </a:solidFill>
                <a:latin typeface="Arial"/>
              </a:defRPr>
            </a:pPr>
            <a:r>
              <a:t>A world where choice is eliminated, completely removing fatigue. Every storefront is named 'Store' and every beverage is labeled 'Drink'.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73368" y="1371600"/>
            <a:ext cx="51206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73368" y="1371600"/>
            <a:ext cx="5120640" cy="109728"/>
          </a:xfrm>
          <a:prstGeom prst="rect">
            <a:avLst/>
          </a:prstGeom>
          <a:solidFill>
            <a:srgbClr val="4E627D"/>
          </a:solidFill>
          <a:ln>
            <a:solidFill>
              <a:srgbClr val="4E6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7688" y="1645920"/>
            <a:ext cx="45720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C3A4D"/>
                </a:solidFill>
                <a:latin typeface="Georgia"/>
              </a:defRPr>
            </a:pPr>
            <a:r>
              <a:t>02.  Absolute Brand Unity</a:t>
            </a:r>
          </a:p>
          <a:p>
            <a:pPr>
              <a:lnSpc>
                <a:spcPct val="110000"/>
              </a:lnSpc>
              <a:defRPr sz="919">
                <a:solidFill>
                  <a:srgbClr val="212529"/>
                </a:solidFill>
                <a:latin typeface="Arial"/>
              </a:defRPr>
            </a:pPr>
            <a:r>
              <a:t>Every corporate logo is a simple, unassuming letter encased in a mildly rounded square, printed in a calm, non-threatening navy blue.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3840480"/>
            <a:ext cx="51206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3840480"/>
            <a:ext cx="5120640" cy="109728"/>
          </a:xfrm>
          <a:prstGeom prst="rect">
            <a:avLst/>
          </a:prstGeom>
          <a:solidFill>
            <a:srgbClr val="4E627D"/>
          </a:solidFill>
          <a:ln>
            <a:solidFill>
              <a:srgbClr val="4E6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4114800"/>
            <a:ext cx="45720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C3A4D"/>
                </a:solidFill>
                <a:latin typeface="Georgia"/>
              </a:defRPr>
            </a:pPr>
            <a:r>
              <a:t>03.  No More A/B Testing</a:t>
            </a:r>
          </a:p>
          <a:p>
            <a:pPr>
              <a:lnSpc>
                <a:spcPct val="110000"/>
              </a:lnSpc>
              <a:defRPr sz="919">
                <a:solidFill>
                  <a:srgbClr val="212529"/>
                </a:solidFill>
                <a:latin typeface="Arial"/>
              </a:defRPr>
            </a:pPr>
            <a:r>
              <a:t>There is no A/B testing because there is only Option A. No customized user journeys—just a single, straight, unpaved road from A to 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3368" y="3840480"/>
            <a:ext cx="51206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3368" y="3840480"/>
            <a:ext cx="5120640" cy="109728"/>
          </a:xfrm>
          <a:prstGeom prst="rect">
            <a:avLst/>
          </a:prstGeom>
          <a:solidFill>
            <a:srgbClr val="4E627D"/>
          </a:solidFill>
          <a:ln>
            <a:solidFill>
              <a:srgbClr val="4E6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4114800"/>
            <a:ext cx="45720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C3A4D"/>
                </a:solidFill>
                <a:latin typeface="Georgia"/>
              </a:defRPr>
            </a:pPr>
            <a:r>
              <a:t>04.  The Universal Standard</a:t>
            </a:r>
          </a:p>
          <a:p>
            <a:pPr>
              <a:lnSpc>
                <a:spcPct val="110000"/>
              </a:lnSpc>
              <a:defRPr sz="919">
                <a:solidFill>
                  <a:srgbClr val="212529"/>
                </a:solidFill>
                <a:latin typeface="Arial"/>
              </a:defRPr>
            </a:pPr>
            <a:r>
              <a:t>John Doe is the CEO of every major corporation. The standard 555 telephone prefix is the only way to communicate.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457200"/>
            <a:ext cx="1051560" cy="8170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63093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A89"/>
                </a:solidFill>
                <a:latin typeface="Arial"/>
              </a:defRPr>
            </a:pPr>
            <a:r>
              <a:t>Sample Co. Example Solutions  |  The Manifesto  |  Slide 6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36576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E627D"/>
                </a:solidFill>
                <a:latin typeface="Arial"/>
              </a:defRPr>
            </a:pPr>
            <a:r>
              <a:t>CONCLUSION</a:t>
            </a:r>
          </a:p>
          <a:p>
            <a:pPr>
              <a:defRPr sz="2600" b="1">
                <a:solidFill>
                  <a:srgbClr val="2C3A4D"/>
                </a:solidFill>
                <a:latin typeface="Georgia"/>
              </a:defRPr>
            </a:pPr>
            <a:r>
              <a:t>Join the Unremarkable Movement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9445752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109728" cy="2926080"/>
          </a:xfrm>
          <a:prstGeom prst="rect">
            <a:avLst/>
          </a:prstGeom>
          <a:solidFill>
            <a:srgbClr val="4E627D"/>
          </a:solidFill>
          <a:ln>
            <a:solidFill>
              <a:srgbClr val="4E6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8531352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E627D"/>
                </a:solidFill>
                <a:latin typeface="Arial"/>
              </a:defRPr>
            </a:pPr>
            <a:r>
              <a:t>THE FINAL IMPERATIVE</a:t>
            </a:r>
          </a:p>
          <a:p>
            <a:pPr>
              <a:spcAft>
                <a:spcPts val="2000"/>
              </a:spcAft>
              <a:defRPr sz="1900" b="1" i="1">
                <a:solidFill>
                  <a:srgbClr val="2C3A4D"/>
                </a:solidFill>
                <a:latin typeface="Georgia"/>
              </a:defRPr>
            </a:pPr>
            <a:r>
              <a:t>“Lower your standards. Embrace the boilerplate. Stop striving for the exceptional and sink comfortably into the warm, inviting embrace of the unremarkable.”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4457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2C3A4D"/>
                </a:solidFill>
                <a:latin typeface="Georgia"/>
              </a:defRPr>
            </a:pPr>
            <a:r>
              <a:t>Sample Co. Example Solutions. We are here. And that is 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